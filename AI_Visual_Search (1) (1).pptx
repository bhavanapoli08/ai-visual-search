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AD0681-6DD3-212C-E866-C3467FCEDBDE}" v="56" dt="2026-05-17T17:48:50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3CBDB-60DD-4474-A6C9-2F963BD65CA7}" type="datetimeFigureOut"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FFE76-8425-4AC8-A7EC-145C079C4F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2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Deep Learning Based Reverse Image Search System Using Feature Embeddings and Vector Similarity Search</a:t>
            </a:r>
            <a:endParaRPr lang="en-US" sz="2400">
              <a:solidFill>
                <a:srgbClr val="000000"/>
              </a:solidFill>
              <a:highlight>
                <a:srgbClr val="C6C6C6"/>
              </a:highlight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Feature Embeddings and FAISS Vector Similarity 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i="1">
                <a:ea typeface="Calibri"/>
                <a:cs typeface="Calibri"/>
              </a:rPr>
              <a:t>Name: BHAVANA POLI</a:t>
            </a:r>
          </a:p>
          <a:p>
            <a:pPr algn="ctr"/>
            <a:r>
              <a:rPr lang="en-US" sz="1400" i="1">
                <a:ea typeface="Calibri"/>
                <a:cs typeface="Calibri"/>
              </a:rPr>
              <a:t>REG NO.: BL.SC.P2CSE25027</a:t>
            </a:r>
            <a:endParaRPr lang="en-US" sz="1400" i="1" dirty="0"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B85F8E0A-03E9-9817-724C-7891A20EC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508" y="233703"/>
            <a:ext cx="337185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data is growing exponentially across e-commerce, social media, and medical platforms.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search depends on tags and metadata — often incomplete or inconsistent.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Image Retrieval (CBIR) enables search directly over visual content.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descriptors (SIFT, HOG, color histograms) fail to capture semantic meaning.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CNNs produce rich embeddings encoding shape, texture, color, and structure.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provides fast nearest-neighbour search scalable to millions of vectors.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31E75B4C-3B0E-84AD-60AD-101CE0F0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image search depends entirely on text labels and metadata tags.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tagging is time-consuming, inconsistent, and unavailable for many image types.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for visually similar images with different or no labels.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image retrieval over millions of high-dimensional vectors is computationally prohibitive.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CBIR systems using hand-crafted features lack semantic understanding.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AI-based system that retrieves images by visual content — not text.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C7ABFD99-6F6C-54D5-47B4-7A4D6A6E8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932688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8778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semantic embeddings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52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ResNet50 to generate 2048-dim feature vectors capturing visual semantics.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1737360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6824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scalable FAISS index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95681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all gallery embeddings using FAISS IndexFlatL2 for fast nearest-neighbour search.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60120" y="2542032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87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visually similar images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6148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images ranked by L2 / cosine distance to the query embedding.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60120" y="3346704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P@K, Recall@K, F1, MAP, MRR, and AUC-ROC on Caltech-101 benchmark.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05993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60120" y="4151376"/>
            <a:ext cx="0" cy="53035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965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interactive web 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Gradio UI at localhost:7860 for real-time query upload and result display.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7E65617B-C9BB-7E53-BDF3-5C5C2C9C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 (2016)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Residual Learning — CVPR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ResNet with skip connections solving vanishing gradients in deep networks.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is our feature extractor; global avg pool gives the 2048-dim embedding.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Johnson, Douze &amp; Jégou 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— IEEE Trans. Big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GPU-accelerated approximate nearest-neighbour indexing scaling to billion vectors.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 our similarity search pipeline; IndexFlatL2 used for exact retrieval.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Babenko et al. (2014)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Codes for Retrieval — ECCV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showed CNN activations outperform SIFT/HOG on landmark retrieval tasks.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using off-the-shelf pretrained CNN features without fine-tuning.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Razavian et al. (2014)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Features Off-the-Shelf — CVPR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 pretrained AlexNet features generalise across diverse visual domains.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our zero-shot transfer approach on Caltech-101 without retraining.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42BC47C1-D3B7-A011-D489-C614DD55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Caltech-101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029200" cy="30723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~9,144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object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per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800 (avg ~58)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JPEG, ~300×200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Query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gallery / 20%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Caltech Vision Lab, 2004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categories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5669280" y="12801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EE03F8FE-45CB-25F7-ACC1-AE31B6956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5" name="Image 0" descr="/mnt/user-data/outputs/ai_visual_search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0" y="804672"/>
            <a:ext cx="31089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058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image (Gradio UI)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Preprocess: resize 224×224, RGB, normalize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ResNet50 → 2048-dim embedding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FAISS IndexFlatL2 vector index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Nearest-neighbour similarity search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Top-K results displayed in UI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phase saves: features.npy · paths.pkl · index.faiss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52FBE428-D4A4-2BAE-16CE-AEDF50720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image is resized to 224×224 pixels to match ResNet50 input requirements.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Grayscale images are converted to 3-channel RGB for model compatibility.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Pixel values are normalised using ImageNet statistics:  μ = [0.485, 0.456, 0.406]  and  σ = [0.229, 0.224, 0.225].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1854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1854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780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Pretrained ResNet50 is loaded with include_top=False and pooling='avg'.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27797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image is passed through 50 layers of convolution and residual blocks.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30815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Global average pooling outputs a compact 2048-dimensional feature vector per image.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5478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547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Indexing &amp; Similarity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2048-dim embeddings are added to a FAISS IndexFlatL2 index and saved to disk.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4142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 query time, the query embedding q is compared using L2 distance: d(q, gᵢ) = ‖q − gᵢ‖₂.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Results are sorted ascending by distance; the top-K image paths are returned to the UI.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pic>
        <p:nvPicPr>
          <p:cNvPr id="22" name="Picture 21" descr="A logo of a company&#10;&#10;AI-generated content may be incorrect.">
            <a:extLst>
              <a:ext uri="{FF2B5EF4-FFF2-40B4-BE49-F238E27FC236}">
                <a16:creationId xmlns:a16="http://schemas.microsoft.com/office/drawing/2014/main" id="{31A58D71-A2E4-50EE-AE6A-5589CF4B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3291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in top-K  / 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P@10 = 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of top-K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in top-K  /  Total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 = 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of all relevant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F1@K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(P×R) / (P+R)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F1@10 = 0.19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Precision-recall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AP over all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ranked retrieval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1 / rank(first hit)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early first correct result appears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Discrimination ability (best=1.0)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class at rank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 at top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class in top-5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present in first 5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268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overall: ResNet50  —  MAP 0.83 · P@10 0.87 · Top-5 Accuracy 95.4% · AUC 0.9812 · Query time 0.82 s (fastest among deep models)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0E2E023A-09B1-6147-CA75-8E153FC70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Classification Metrics &amp; Precision@K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5" name="Image 0" descr="/home/claude/charts/chart1_metric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0292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9443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Accuracy, Precision, Recall, F1 — all 6 models</a:t>
            </a:r>
            <a:endParaRPr lang="en-US" sz="900" dirty="0"/>
          </a:p>
        </p:txBody>
      </p:sp>
      <p:pic>
        <p:nvPicPr>
          <p:cNvPr id="7" name="Image 1" descr="/home/claude/charts/chart2_precision_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822960"/>
            <a:ext cx="356616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2944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Precision@K curves (K = 1, 5, 10, 20)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5760" y="3273552"/>
            <a:ext cx="8412480" cy="640080"/>
          </a:xfrm>
          <a:prstGeom prst="rect">
            <a:avLst/>
          </a:prstGeom>
          <a:solidFill>
            <a:srgbClr val="EBF3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291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Accuracy 0.87 · P@10 0.87 · MAP 0.83 · MRR 0.97  |  Best overall balance of accuracy and speed (0.82 s/query)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529D9137-A828-3EE0-8C35-E3299DE89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MAP, MRR &amp; ROC Curves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5" name="Image 0" descr="/home/claude/charts/chart3_map_m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84632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85292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MAP and MRR — all models</a:t>
            </a:r>
            <a:endParaRPr lang="en-US" sz="900" dirty="0"/>
          </a:p>
        </p:txBody>
      </p:sp>
      <p:pic>
        <p:nvPicPr>
          <p:cNvPr id="7" name="Image 1" descr="/home/claude/charts/chart4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822960"/>
            <a:ext cx="36576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3218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ROC curves — AUC &gt; 0.93 for all models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AUC &gt; 0.93.  ResNet50: MAP 0.83, MRR 0.97.  Xception tops MAP (0.87) but at 1.22 s vs 0.82 s for ResNet50.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12" name="Picture 11" descr="A logo of a company&#10;&#10;AI-generated content may be incorrect.">
            <a:extLst>
              <a:ext uri="{FF2B5EF4-FFF2-40B4-BE49-F238E27FC236}">
                <a16:creationId xmlns:a16="http://schemas.microsoft.com/office/drawing/2014/main" id="{D43C0C98-7AAD-79AB-848B-A4F1E82A3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 &amp; Top-K Accuracy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pic>
        <p:nvPicPr>
          <p:cNvPr id="5" name="Image 0" descr="/home/claude/charts/chart6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1148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0416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Confusion matrix — ResNet50 (10 classes)</a:t>
            </a:r>
            <a:endParaRPr lang="en-US" sz="900" dirty="0"/>
          </a:p>
        </p:txBody>
      </p:sp>
      <p:pic>
        <p:nvPicPr>
          <p:cNvPr id="7" name="Image 1" descr="/home/claude/charts/chart7_topk_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2960"/>
            <a:ext cx="429768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32186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Top-K accuracy (K = 1, 3, 5, 10)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0" y="3520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Top-5 accuracy = 95.4%  |  Strong diagonal confirms high intra-class retrieval accuracy.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pic>
        <p:nvPicPr>
          <p:cNvPr id="12" name="Picture 11" descr="A logo of a company&#10;&#10;AI-generated content may be incorrect.">
            <a:extLst>
              <a:ext uri="{FF2B5EF4-FFF2-40B4-BE49-F238E27FC236}">
                <a16:creationId xmlns:a16="http://schemas.microsoft.com/office/drawing/2014/main" id="{52226539-A06A-6BC8-BCB6-2449629A9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High retrieval accuracy achieved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FAISS achieves MAP 0.83, P@10 0.87, Top-5 Accuracy 95.4%, and AUC 0.9812 on Caltech-101 — significantly outperforming classical hand-crafted feature baselines.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Real-time retrieval demonstrated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836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time of 0.82 seconds on CPU, with FAISS similarity search completing in under 1 millisecond for 9,144 indexed vectors.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Scalable and deployable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index files (features.npy, paths.pkl, index.faiss) enable incremental updates without full re-indexing. Architecture scales to larger datasets.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Deployment success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interface provides one-command deployment at localhost:7860 — no cloud infrastructure required. Practical for e-commerce, medical imaging, and digital asset management.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pic>
        <p:nvPicPr>
          <p:cNvPr id="15" name="Picture 14" descr="A logo of a company&#10;&#10;AI-generated content may be incorrect.">
            <a:extLst>
              <a:ext uri="{FF2B5EF4-FFF2-40B4-BE49-F238E27FC236}">
                <a16:creationId xmlns:a16="http://schemas.microsoft.com/office/drawing/2014/main" id="{8B2F2483-9BC8-D7BD-893E-FA4382D9D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Fine-tuned embeddings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triplet/contrastive loss for retrieval-optimised features — expected +5–15% MAP.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Approximate indexing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IndexFlatL2 with IVF-PQ or HNSW for billion-scale datasets at sub-millisecond latency.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Multi-modal search (CLIP)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980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text-to-image and image-to-text cross-modal queries using vision-language models.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28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GPU acceleration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027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GpuIndexFlatL2 reduces end-to-end query time from 0.82 s to under 0.1 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Mobile 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074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TensorFlow Lite for on-device reverse image search without a server backend.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pic>
        <p:nvPicPr>
          <p:cNvPr id="17" name="Picture 16" descr="A logo of a company&#10;&#10;AI-generated content may be incorrect.">
            <a:extLst>
              <a:ext uri="{FF2B5EF4-FFF2-40B4-BE49-F238E27FC236}">
                <a16:creationId xmlns:a16="http://schemas.microsoft.com/office/drawing/2014/main" id="{6B8D80A2-1C7C-F033-6F71-52708E7B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67512"/>
            <a:ext cx="80467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He et al. (2016). Deep Residual Learning for Image Recognition. CVPR, 770–778.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Johnson, Douze &amp; Jégou (2019). Billion-Scale Similarity Search with GPUs. IEEE Trans. Big Data, 7(3), 535–547.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Babenko et al. (2014). Neural Codes for Image Retrieval. ECCV, 584–599.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Razavian et al. (2014). CNN Features Off-the-Shelf: An Astounding Baseline. CVPR Workshops, 806–813.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Jégou, Douze &amp; Schmid (2011). Product Quantization for Nearest Neighbor Search. IEEE TPAMI, 33(1), 117–128.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Fei-Fei, Fergus &amp; Perona (2004). Learning Generative Visual Models from Few Examples — Caltech-101. CVPR Workshop.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Gordo et al. (2016). Deep Image Retrieval: Learning Global Representations. ECCV, 241–257.</a:t>
            </a:r>
            <a:endParaRPr lang="en-US" sz="112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Chollet et al. (2015). Keras. https://keras.io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5C727F0C-B781-71C5-A2BC-AC4F638A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3" y="146957"/>
            <a:ext cx="1642042" cy="650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Based Reverse Image Search System</dc:title>
  <dc:subject>PptxGenJS Presentation</dc:subject>
  <dc:creator>PptxGenJS</dc:creator>
  <cp:lastModifiedBy>PptxGenJS</cp:lastModifiedBy>
  <cp:revision>21</cp:revision>
  <dcterms:created xsi:type="dcterms:W3CDTF">2026-05-17T17:39:27Z</dcterms:created>
  <dcterms:modified xsi:type="dcterms:W3CDTF">2026-05-17T17:51:04Z</dcterms:modified>
</cp:coreProperties>
</file>